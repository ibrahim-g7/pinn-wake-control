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Progress Report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E6"/>
                </a:solidFill>
              </a:defRPr>
            </a:pPr>
            <a:r>
              <a:t>Data Pipeline &amp;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D2"/>
                </a:solidFill>
              </a:defRPr>
            </a:pPr>
            <a:r>
              <a:t>Ibrahim Alghrabi  |  Advisor: Dr. Tariq Ahmed Albusyuni  |  MATH 619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Build functional data pipeline for real SCADA data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Analyze Kelmarsh Wind Farm operational data (UK)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Design PINN architecture with physics constraints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Prepare training-ready datasets for PINN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Select implementation framework (pinnstorch)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Source: Kelmarsh Wind Farm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Farm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Location: Northamptonshire, UK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6 × Senvion MM92 turbines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Rated power: 2.05 MW each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Rotor diameter: 92 m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Hub height: 68.5-78.5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Source: Zenodo (Open Access)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Period: Jan - Jul 2021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Resolution: 10-min averages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Records: 135,068 (cleaned)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Variables: wind, power, yaw, pitch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Statistics (Real Kelmarsh Data)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Wind Speed (m/s)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5.91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22.42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Power (kW)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611.0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668.4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-17.8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2077.5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Yaw Angle (°)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186.0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100.8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360.0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Pitch Angle (°)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7.06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-170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92.5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Rotor Speed (RPM)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10.09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Power Curve Analysis</a:t>
            </a:r>
          </a:p>
        </p:txBody>
      </p:sp>
      <p:pic>
        <p:nvPicPr>
          <p:cNvPr id="5" name="Picture 4" descr="power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012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Left: All turbines scatter. Right: Binned mean with uncertainty. Rated power = 2050 kW.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Yaw Misalignment Analysis</a:t>
            </a:r>
          </a:p>
        </p:txBody>
      </p:sp>
      <p:pic>
        <p:nvPicPr>
          <p:cNvPr id="5" name="Picture 4" descr="yaw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8965" y="1010285"/>
            <a:ext cx="5001895" cy="35566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Power drops from ~1000 kW at 0-5° misalignment to ~450 kW at 25-30° (6-10 m/s wind).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Inter-Turbine Variation</a:t>
            </a:r>
          </a:p>
        </p:txBody>
      </p:sp>
      <p:pic>
        <p:nvPicPr>
          <p:cNvPr id="5" name="Picture 4" descr="wake_effec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12215"/>
            <a:ext cx="8595360" cy="3012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Turbine 6 shows 68% of peak output — possible wake effects or operational differences.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Variable Correlations</a:t>
            </a:r>
          </a:p>
        </p:txBody>
      </p:sp>
      <p:pic>
        <p:nvPicPr>
          <p:cNvPr id="5" name="Picture 4" descr="correlat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0" y="889635"/>
            <a:ext cx="4460875" cy="3965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Wind-power: 0.95 | Yaw-direction: 0.89 | Pitch-rotor: -0.75 (pitch-to-feather control)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Pitch Angle Behavior</a:t>
            </a:r>
          </a:p>
        </p:txBody>
      </p:sp>
      <p:pic>
        <p:nvPicPr>
          <p:cNvPr id="5" name="Picture 4" descr="pitch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2226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46464"/>
                </a:solidFill>
              </a:defRPr>
            </a:pPr>
            <a:r>
              <a:t>Pitch near 0° in Region 2, increases in Region 3 for power regulation.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PINN Architecture Design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Input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4 neurons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wind speed, direction, yaw, pitch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Hidden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5 × 64 neurons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Tanh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Output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3 neurons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velocity (u,v),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pinnstorch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PyTorch-based, Raissi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Physics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Navier-Stokes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6454F"/>
                          </a:solidFill>
                        </a:defRPr>
                      </a:pPr>
                      <a:r>
                        <a:t>Continuity + momentum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Power curve matches expected 3-region behavior (cut-in → cubic → rated)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Yaw misalignment causes measurable power loss (up to 55%)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Turbine 6 underperforms — wake effects or site conditions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Strong wind-power correlation (r=0.95) validates data quality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Pitch-rotor anticorrelation confirms active power regulation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Anomalous pitch values in raw data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360°/0° wraparound in angles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Framework selection complexity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Curtailment periods in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566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Filtering pipeline removes outliers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Modular yaw error calculation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Selected pinnstorch (Raissi group)</a:t>
            </a:r>
          </a:p>
          <a:p>
            <a:pPr>
              <a:spcAft>
                <a:spcPts val="800"/>
              </a:spcAft>
              <a:defRPr sz="1400">
                <a:solidFill>
                  <a:srgbClr val="36454F"/>
                </a:solidFill>
              </a:defRPr>
            </a:pPr>
            <a:r>
              <a:t>• Filter low-power, high-wind periods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 (Progress Report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Install pinnstorch and validate Navier-Stokes example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Adapt PINN for yaw/pitch control inputs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Train on Kelmarsh dataset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Compare PINN vs vanilla neural network</a:t>
            </a:r>
          </a:p>
          <a:p>
            <a:pPr>
              <a:spcAft>
                <a:spcPts val="1400"/>
              </a:spcAft>
              <a:defRPr sz="1800">
                <a:solidFill>
                  <a:srgbClr val="36454F"/>
                </a:solidFill>
              </a:defRPr>
            </a:pPr>
            <a:r>
              <a:t>• Demonstrate gradient-based yaw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E6"/>
                </a:solidFill>
              </a:defRPr>
            </a:pPr>
            <a:r>
              <a:t>Ibrahim Alghrabi | g201724510@kfupm.edu.sa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D2"/>
                </a:solidFill>
              </a:defRPr>
            </a:pPr>
            <a:r>
              <a:t>Ibrahim Alghrabi  |  Advisor: Dr. Tariq Ahmed Albusyuni  |  MATH 619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2738</Words>
  <Application>WPS Presentation</Application>
  <PresentationFormat>On-screen Show (4:3)</PresentationFormat>
  <Paragraphs>190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Trebuchet MS</vt:lpstr>
      <vt:lpstr>Microsoft YaHei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ibrahim</cp:lastModifiedBy>
  <cp:revision>2</cp:revision>
  <dcterms:created xsi:type="dcterms:W3CDTF">2026-02-24T20:32:08Z</dcterms:created>
  <dcterms:modified xsi:type="dcterms:W3CDTF">2026-02-24T20:32:08Z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