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4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A9A5"/>
          </a:solidFill>
        </p:spPr>
      </p:sp>
      <p:sp>
        <p:nvSpPr>
          <p:cNvPr id="3" name="Text 1"/>
          <p:cNvSpPr/>
          <p:nvPr/>
        </p:nvSpPr>
        <p:spPr>
          <a:xfrm>
            <a:off x="731520" y="914400"/>
            <a:ext cx="768096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Progress Report 3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1645920"/>
            <a:ext cx="76809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PINN Training &amp; Gradient-Based Yaw Optimization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1520" y="2468880"/>
            <a:ext cx="1828800" cy="36576"/>
          </a:xfrm>
          <a:prstGeom prst="rect">
            <a:avLst/>
          </a:prstGeom>
          <a:solidFill>
            <a:srgbClr val="00A9A5"/>
          </a:solidFill>
        </p:spPr>
      </p:sp>
      <p:sp>
        <p:nvSpPr>
          <p:cNvPr id="6" name="Text 4"/>
          <p:cNvSpPr/>
          <p:nvPr/>
        </p:nvSpPr>
        <p:spPr>
          <a:xfrm>
            <a:off x="731520" y="2743200"/>
            <a:ext cx="73152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Physics-Informed Neural Networks for Wake-Aware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Yaw and Blade Pitch Control in Wind Turbines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3657600"/>
            <a:ext cx="457200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Ibrahim Alghrabi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Advisor: Dr. Tariq Ahmed Albusyuni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 619 | Term 252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447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Report Objectives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234440"/>
            <a:ext cx="411480" cy="411480"/>
          </a:xfrm>
          <a:prstGeom prst="ellipse">
            <a:avLst/>
          </a:prstGeom>
          <a:solidFill>
            <a:srgbClr val="00A9A5"/>
          </a:solidFill>
        </p:spPr>
      </p:sp>
      <p:sp>
        <p:nvSpPr>
          <p:cNvPr id="4" name="Text 2"/>
          <p:cNvSpPr/>
          <p:nvPr/>
        </p:nvSpPr>
        <p:spPr>
          <a:xfrm>
            <a:off x="731520" y="1234440"/>
            <a:ext cx="4114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371600" y="1188720"/>
            <a:ext cx="71323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 Physics-Informed Neural Network on real Kelmarsh SCADA data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1965960"/>
            <a:ext cx="411480" cy="411480"/>
          </a:xfrm>
          <a:prstGeom prst="ellipse">
            <a:avLst/>
          </a:prstGeom>
          <a:solidFill>
            <a:srgbClr val="00A9A5"/>
          </a:solidFill>
        </p:spPr>
      </p:sp>
      <p:sp>
        <p:nvSpPr>
          <p:cNvPr id="7" name="Text 5"/>
          <p:cNvSpPr/>
          <p:nvPr/>
        </p:nvSpPr>
        <p:spPr>
          <a:xfrm>
            <a:off x="731520" y="1965960"/>
            <a:ext cx="4114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71600" y="1920240"/>
            <a:ext cx="71323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PINN vs. baseline NN (no physics constraints)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2697480"/>
            <a:ext cx="411480" cy="411480"/>
          </a:xfrm>
          <a:prstGeom prst="ellipse">
            <a:avLst/>
          </a:prstGeom>
          <a:solidFill>
            <a:srgbClr val="00A9A5"/>
          </a:solidFill>
        </p:spPr>
      </p:sp>
      <p:sp>
        <p:nvSpPr>
          <p:cNvPr id="10" name="Text 8"/>
          <p:cNvSpPr/>
          <p:nvPr/>
        </p:nvSpPr>
        <p:spPr>
          <a:xfrm>
            <a:off x="731520" y="2697480"/>
            <a:ext cx="4114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71600" y="2651760"/>
            <a:ext cx="71323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 gradient-based yaw angle optimization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3429000"/>
            <a:ext cx="411480" cy="411480"/>
          </a:xfrm>
          <a:prstGeom prst="ellipse">
            <a:avLst/>
          </a:prstGeom>
          <a:solidFill>
            <a:srgbClr val="00A9A5"/>
          </a:solidFill>
        </p:spPr>
      </p:sp>
      <p:sp>
        <p:nvSpPr>
          <p:cNvPr id="13" name="Text 11"/>
          <p:cNvSpPr/>
          <p:nvPr/>
        </p:nvSpPr>
        <p:spPr>
          <a:xfrm>
            <a:off x="731520" y="3429000"/>
            <a:ext cx="4114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4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71600" y="3383280"/>
            <a:ext cx="71323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physics compliance of the learned power model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31520" y="4160520"/>
            <a:ext cx="411480" cy="411480"/>
          </a:xfrm>
          <a:prstGeom prst="ellipse">
            <a:avLst/>
          </a:prstGeom>
          <a:solidFill>
            <a:srgbClr val="00A9A5"/>
          </a:solidFill>
        </p:spPr>
      </p:sp>
      <p:sp>
        <p:nvSpPr>
          <p:cNvPr id="16" name="Text 14"/>
          <p:cNvSpPr/>
          <p:nvPr/>
        </p:nvSpPr>
        <p:spPr>
          <a:xfrm>
            <a:off x="731520" y="4160520"/>
            <a:ext cx="4114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5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71600" y="4114800"/>
            <a:ext cx="71323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reproducible results and figures for the project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447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Model Architecture &amp; Physics Loss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31920" cy="3474720"/>
          </a:xfrm>
          <a:prstGeom prst="rect">
            <a:avLst/>
          </a:prstGeom>
          <a:solidFill>
            <a:srgbClr val="FFFFFF"/>
          </a:solidFill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97280"/>
            <a:ext cx="3931920" cy="457200"/>
          </a:xfrm>
          <a:prstGeom prst="rect">
            <a:avLst/>
          </a:prstGeom>
          <a:solidFill>
            <a:srgbClr val="0B2447"/>
          </a:solidFill>
        </p:spPr>
      </p:sp>
      <p:sp>
        <p:nvSpPr>
          <p:cNvPr id="5" name="Text 3"/>
          <p:cNvSpPr/>
          <p:nvPr/>
        </p:nvSpPr>
        <p:spPr>
          <a:xfrm>
            <a:off x="457200" y="1097280"/>
            <a:ext cx="39319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12801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A9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920240" y="1737360"/>
            <a:ext cx="22860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neurons (wind, dir, yaw, pitch)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240280"/>
            <a:ext cx="12801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A9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920240" y="2240280"/>
            <a:ext cx="22860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layers × 64 neurons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743200"/>
            <a:ext cx="12801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A9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920240" y="2743200"/>
            <a:ext cx="22860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Tanh (twice differentiable)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3246120"/>
            <a:ext cx="12801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A9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920240" y="3246120"/>
            <a:ext cx="22860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neuron (normalized power)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3749040"/>
            <a:ext cx="12801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A9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920240" y="3749040"/>
            <a:ext cx="22860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1097280"/>
            <a:ext cx="3931920" cy="3474720"/>
          </a:xfrm>
          <a:prstGeom prst="rect">
            <a:avLst/>
          </a:prstGeom>
          <a:solidFill>
            <a:srgbClr val="FFFFFF"/>
          </a:solidFill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1097280"/>
            <a:ext cx="3931920" cy="457200"/>
          </a:xfrm>
          <a:prstGeom prst="rect">
            <a:avLst/>
          </a:prstGeom>
          <a:solidFill>
            <a:srgbClr val="00A9A5"/>
          </a:solidFill>
        </p:spPr>
      </p:sp>
      <p:sp>
        <p:nvSpPr>
          <p:cNvPr id="18" name="Text 16"/>
          <p:cNvSpPr/>
          <p:nvPr/>
        </p:nvSpPr>
        <p:spPr>
          <a:xfrm>
            <a:off x="4754880" y="1097280"/>
            <a:ext cx="39319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 Loss Components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937760" y="1691640"/>
            <a:ext cx="35661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B24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L_total = L_data + λ · L_physics   (λ = 0.1)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937760" y="2221992"/>
            <a:ext cx="73152" cy="274320"/>
          </a:xfrm>
          <a:prstGeom prst="rect">
            <a:avLst/>
          </a:prstGeom>
          <a:solidFill>
            <a:srgbClr val="00A9A5"/>
          </a:solidFill>
        </p:spPr>
      </p:sp>
      <p:sp>
        <p:nvSpPr>
          <p:cNvPr id="21" name="Text 19"/>
          <p:cNvSpPr/>
          <p:nvPr/>
        </p:nvSpPr>
        <p:spPr>
          <a:xfrm>
            <a:off x="5212080" y="2148840"/>
            <a:ext cx="14630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Monotonicity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583680" y="2148840"/>
            <a:ext cx="19202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∂P/∂v ≥ 0 in Region 2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937760" y="2724912"/>
            <a:ext cx="73152" cy="274320"/>
          </a:xfrm>
          <a:prstGeom prst="rect">
            <a:avLst/>
          </a:prstGeom>
          <a:solidFill>
            <a:srgbClr val="00A9A5"/>
          </a:solidFill>
        </p:spPr>
      </p:sp>
      <p:sp>
        <p:nvSpPr>
          <p:cNvPr id="24" name="Text 22"/>
          <p:cNvSpPr/>
          <p:nvPr/>
        </p:nvSpPr>
        <p:spPr>
          <a:xfrm>
            <a:off x="5212080" y="2651760"/>
            <a:ext cx="14630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Yaw cosine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583680" y="2651760"/>
            <a:ext cx="19202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∝ cos³(γ) law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937760" y="3227832"/>
            <a:ext cx="73152" cy="274320"/>
          </a:xfrm>
          <a:prstGeom prst="rect">
            <a:avLst/>
          </a:prstGeom>
          <a:solidFill>
            <a:srgbClr val="00A9A5"/>
          </a:solidFill>
        </p:spPr>
      </p:sp>
      <p:sp>
        <p:nvSpPr>
          <p:cNvPr id="27" name="Text 25"/>
          <p:cNvSpPr/>
          <p:nvPr/>
        </p:nvSpPr>
        <p:spPr>
          <a:xfrm>
            <a:off x="5212080" y="3154680"/>
            <a:ext cx="14630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Betz bound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583680" y="3154680"/>
            <a:ext cx="19202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≤ P_norm ≤ 1.0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937760" y="3730752"/>
            <a:ext cx="73152" cy="274320"/>
          </a:xfrm>
          <a:prstGeom prst="rect">
            <a:avLst/>
          </a:prstGeom>
          <a:solidFill>
            <a:srgbClr val="00A9A5"/>
          </a:solidFill>
        </p:spPr>
      </p:sp>
      <p:sp>
        <p:nvSpPr>
          <p:cNvPr id="30" name="Text 28"/>
          <p:cNvSpPr/>
          <p:nvPr/>
        </p:nvSpPr>
        <p:spPr>
          <a:xfrm>
            <a:off x="5212080" y="3657600"/>
            <a:ext cx="14630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Smoothness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583680" y="3657600"/>
            <a:ext cx="19202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Second-derivative penalty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447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Training Convergence</a:t>
            </a:r>
            <a:endParaRPr lang="en-US" sz="3200" dirty="0"/>
          </a:p>
        </p:txBody>
      </p:sp>
      <p:pic>
        <p:nvPicPr>
          <p:cNvPr id="3" name="Image 0" descr="figures/training_curve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05840"/>
            <a:ext cx="8229600" cy="32004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4343400"/>
            <a:ext cx="8229600" cy="594360"/>
          </a:xfrm>
          <a:prstGeom prst="rect">
            <a:avLst/>
          </a:prstGeom>
          <a:solidFill>
            <a:srgbClr val="0B2447"/>
          </a:solidFill>
        </p:spPr>
      </p:sp>
      <p:sp>
        <p:nvSpPr>
          <p:cNvPr id="5" name="Text 2"/>
          <p:cNvSpPr/>
          <p:nvPr/>
        </p:nvSpPr>
        <p:spPr>
          <a:xfrm>
            <a:off x="640080" y="4343400"/>
            <a:ext cx="78638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</a:t>
            </a: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 loss guides early training toward plausible solutions. PINN validation curve is smoother — physics constraints act as regularization, preventing the overfitting spikes visible in the baseline.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447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Prediction Accuracy</a:t>
            </a:r>
            <a:endParaRPr lang="en-US" sz="3200" dirty="0"/>
          </a:p>
        </p:txBody>
      </p:sp>
      <p:pic>
        <p:nvPicPr>
          <p:cNvPr id="3" name="Image 0" descr="figures/predictions_compariso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05840"/>
            <a:ext cx="8595360" cy="301752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4160520"/>
            <a:ext cx="3840480" cy="822960"/>
          </a:xfrm>
          <a:prstGeom prst="rect">
            <a:avLst/>
          </a:prstGeom>
          <a:solidFill>
            <a:srgbClr val="FFFFFF"/>
          </a:solidFill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640080" y="4160520"/>
            <a:ext cx="1828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NN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640080" y="4434840"/>
            <a:ext cx="34747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R² = 0.9908  |  RMSE = 62.0 kW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846320" y="4160520"/>
            <a:ext cx="3840480" cy="822960"/>
          </a:xfrm>
          <a:prstGeom prst="rect">
            <a:avLst/>
          </a:prstGeom>
          <a:solidFill>
            <a:srgbClr val="FFFFFF"/>
          </a:solidFill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846320" y="4160520"/>
            <a:ext cx="54864" cy="822960"/>
          </a:xfrm>
          <a:prstGeom prst="rect">
            <a:avLst/>
          </a:prstGeom>
          <a:solidFill>
            <a:srgbClr val="00A9A5"/>
          </a:solidFill>
        </p:spPr>
      </p:sp>
      <p:sp>
        <p:nvSpPr>
          <p:cNvPr id="9" name="Text 6"/>
          <p:cNvSpPr/>
          <p:nvPr/>
        </p:nvSpPr>
        <p:spPr>
          <a:xfrm>
            <a:off x="5120640" y="4160520"/>
            <a:ext cx="2286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A9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Physics-Informed NN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120640" y="4434840"/>
            <a:ext cx="34747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R² = 0.9909  |  RMSE = 61.7 kW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447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Physics Compliance</a:t>
            </a:r>
            <a:endParaRPr lang="en-US" sz="3200" dirty="0"/>
          </a:p>
        </p:txBody>
      </p:sp>
      <p:pic>
        <p:nvPicPr>
          <p:cNvPr id="3" name="Image 0" descr="figures/physics_complianc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14400"/>
            <a:ext cx="5029200" cy="32004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760720" y="914400"/>
            <a:ext cx="3017520" cy="3200400"/>
          </a:xfrm>
          <a:prstGeom prst="rect">
            <a:avLst/>
          </a:prstGeom>
          <a:solidFill>
            <a:srgbClr val="FFFFFF"/>
          </a:solidFill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5943600" y="1069848"/>
            <a:ext cx="182880" cy="182880"/>
          </a:xfrm>
          <a:prstGeom prst="ellipse">
            <a:avLst/>
          </a:prstGeom>
          <a:solidFill>
            <a:srgbClr val="22C55E"/>
          </a:solidFill>
        </p:spPr>
      </p:sp>
      <p:sp>
        <p:nvSpPr>
          <p:cNvPr id="6" name="Text 3"/>
          <p:cNvSpPr/>
          <p:nvPr/>
        </p:nvSpPr>
        <p:spPr>
          <a:xfrm>
            <a:off x="6263640" y="1005840"/>
            <a:ext cx="23774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 2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263640" y="1234440"/>
            <a:ext cx="23774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Cubic law correctly captured below rated speed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943600" y="1801368"/>
            <a:ext cx="182880" cy="182880"/>
          </a:xfrm>
          <a:prstGeom prst="ellipse">
            <a:avLst/>
          </a:prstGeom>
          <a:solidFill>
            <a:srgbClr val="00A9A5"/>
          </a:solidFill>
        </p:spPr>
      </p:sp>
      <p:sp>
        <p:nvSpPr>
          <p:cNvPr id="9" name="Text 6"/>
          <p:cNvSpPr/>
          <p:nvPr/>
        </p:nvSpPr>
        <p:spPr>
          <a:xfrm>
            <a:off x="6263640" y="1737360"/>
            <a:ext cx="23774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Rated Power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263640" y="1965960"/>
            <a:ext cx="23774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 transition near 12.5 m/s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943600" y="2532888"/>
            <a:ext cx="182880" cy="182880"/>
          </a:xfrm>
          <a:prstGeom prst="ellipse">
            <a:avLst/>
          </a:prstGeom>
          <a:solidFill>
            <a:srgbClr val="F59E0B"/>
          </a:solidFill>
        </p:spPr>
      </p:sp>
      <p:sp>
        <p:nvSpPr>
          <p:cNvPr id="12" name="Text 9"/>
          <p:cNvSpPr/>
          <p:nvPr/>
        </p:nvSpPr>
        <p:spPr>
          <a:xfrm>
            <a:off x="6263640" y="2468880"/>
            <a:ext cx="23774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 3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263640" y="2697480"/>
            <a:ext cx="23774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decreases — reflects pitch-to-feather control in data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943600" y="3264408"/>
            <a:ext cx="182880" cy="182880"/>
          </a:xfrm>
          <a:prstGeom prst="ellipse">
            <a:avLst/>
          </a:prstGeom>
          <a:solidFill>
            <a:srgbClr val="22C55E"/>
          </a:solidFill>
        </p:spPr>
      </p:sp>
      <p:sp>
        <p:nvSpPr>
          <p:cNvPr id="15" name="Text 12"/>
          <p:cNvSpPr/>
          <p:nvPr/>
        </p:nvSpPr>
        <p:spPr>
          <a:xfrm>
            <a:off x="6263640" y="3200400"/>
            <a:ext cx="23774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Betz Limit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263640" y="3429000"/>
            <a:ext cx="23774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Respected throughout the full operating range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447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Gradient-Based Yaw Optimization</a:t>
            </a:r>
            <a:endParaRPr lang="en-US" sz="3200" dirty="0"/>
          </a:p>
        </p:txBody>
      </p:sp>
      <p:pic>
        <p:nvPicPr>
          <p:cNvPr id="3" name="Image 0" descr="figures/yaw_optimizatio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914400"/>
            <a:ext cx="5486400" cy="393192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943600" y="914400"/>
            <a:ext cx="2926080" cy="3931920"/>
          </a:xfrm>
          <a:prstGeom prst="rect">
            <a:avLst/>
          </a:prstGeom>
          <a:solidFill>
            <a:srgbClr val="0B2447"/>
          </a:solidFill>
        </p:spPr>
      </p:sp>
      <p:sp>
        <p:nvSpPr>
          <p:cNvPr id="5" name="Text 2"/>
          <p:cNvSpPr/>
          <p:nvPr/>
        </p:nvSpPr>
        <p:spPr>
          <a:xfrm>
            <a:off x="5943600" y="1005840"/>
            <a:ext cx="29260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Results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126480" y="1554480"/>
            <a:ext cx="25603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2,000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6126480" y="1847088"/>
            <a:ext cx="25603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Samples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126480" y="2148840"/>
            <a:ext cx="25603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-2.8°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6126480" y="2441448"/>
            <a:ext cx="25603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Yaw Adj.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126480" y="2743200"/>
            <a:ext cx="25603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3.6 kW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6126480" y="3035808"/>
            <a:ext cx="25603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Gain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126480" y="3337560"/>
            <a:ext cx="25603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3.0%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6126480" y="3630168"/>
            <a:ext cx="25603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Gain %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126480" y="3931920"/>
            <a:ext cx="25603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48.7 kW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6126480" y="4224528"/>
            <a:ext cx="25603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Gain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447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Challenges &amp; Discussion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8046720" cy="777240"/>
          </a:xfrm>
          <a:prstGeom prst="rect">
            <a:avLst/>
          </a:prstGeom>
          <a:solidFill>
            <a:srgbClr val="FFFFFF"/>
          </a:solidFill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1097280"/>
            <a:ext cx="73152" cy="777240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5" name="Text 3"/>
          <p:cNvSpPr/>
          <p:nvPr/>
        </p:nvSpPr>
        <p:spPr>
          <a:xfrm>
            <a:off x="822960" y="1097280"/>
            <a:ext cx="274320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 Loss Balancing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474720" y="1097280"/>
            <a:ext cx="493776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 = 0.1 selected after experiments; λ &gt; 0.5 degraded data fit, λ &lt; 0.01 gave negligible regularization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011680"/>
            <a:ext cx="8046720" cy="777240"/>
          </a:xfrm>
          <a:prstGeom prst="rect">
            <a:avLst/>
          </a:prstGeom>
          <a:solidFill>
            <a:srgbClr val="FFFFFF"/>
          </a:solidFill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2011680"/>
            <a:ext cx="73152" cy="777240"/>
          </a:xfrm>
          <a:prstGeom prst="rect">
            <a:avLst/>
          </a:prstGeom>
          <a:solidFill>
            <a:srgbClr val="00A9A5"/>
          </a:solidFill>
        </p:spPr>
      </p:sp>
      <p:sp>
        <p:nvSpPr>
          <p:cNvPr id="9" name="Text 7"/>
          <p:cNvSpPr/>
          <p:nvPr/>
        </p:nvSpPr>
        <p:spPr>
          <a:xfrm>
            <a:off x="822960" y="2011680"/>
            <a:ext cx="274320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Marginal PINN Improvement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474720" y="2011680"/>
            <a:ext cx="493776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synthetic data, both models are very close. Real Kelmarsh data with wake effects should show larger differentiation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2926080"/>
            <a:ext cx="8046720" cy="777240"/>
          </a:xfrm>
          <a:prstGeom prst="rect">
            <a:avLst/>
          </a:prstGeom>
          <a:solidFill>
            <a:srgbClr val="FFFFFF"/>
          </a:solidFill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48640" y="2926080"/>
            <a:ext cx="73152" cy="777240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13" name="Text 11"/>
          <p:cNvSpPr/>
          <p:nvPr/>
        </p:nvSpPr>
        <p:spPr>
          <a:xfrm>
            <a:off x="822960" y="2926080"/>
            <a:ext cx="274320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Boundary Effects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474720" y="2926080"/>
            <a:ext cx="493776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yaw adjustments hit the ±30° constraint — suggests need for wider search or constrained optimization methods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3840480"/>
            <a:ext cx="8046720" cy="777240"/>
          </a:xfrm>
          <a:prstGeom prst="rect">
            <a:avLst/>
          </a:prstGeom>
          <a:solidFill>
            <a:srgbClr val="FFFFFF"/>
          </a:solidFill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48640" y="3840480"/>
            <a:ext cx="73152" cy="777240"/>
          </a:xfrm>
          <a:prstGeom prst="rect">
            <a:avLst/>
          </a:prstGeom>
          <a:solidFill>
            <a:srgbClr val="22C55E"/>
          </a:solidFill>
        </p:spPr>
      </p:sp>
      <p:sp>
        <p:nvSpPr>
          <p:cNvPr id="17" name="Text 15"/>
          <p:cNvSpPr/>
          <p:nvPr/>
        </p:nvSpPr>
        <p:spPr>
          <a:xfrm>
            <a:off x="822960" y="3840480"/>
            <a:ext cx="274320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Curve Drop-off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474720" y="3840480"/>
            <a:ext cx="493776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PINN predicts power decrease above rated speed — reflects pitch-to-feather behavior in data, not a model deficiency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4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A9A5"/>
          </a:solidFill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Next Steps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7498080" cy="502920"/>
          </a:xfrm>
          <a:prstGeom prst="rect">
            <a:avLst/>
          </a:prstGeom>
          <a:solidFill>
            <a:srgbClr val="19376D"/>
          </a:solidFill>
        </p:spPr>
      </p:sp>
      <p:sp>
        <p:nvSpPr>
          <p:cNvPr id="5" name="Text 3"/>
          <p:cNvSpPr/>
          <p:nvPr/>
        </p:nvSpPr>
        <p:spPr>
          <a:xfrm>
            <a:off x="868680" y="1234440"/>
            <a:ext cx="3657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ECDC4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71600" y="1234440"/>
            <a:ext cx="66751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tuning (grid search over λ, layers, learning rate)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1920240"/>
            <a:ext cx="7498080" cy="502920"/>
          </a:xfrm>
          <a:prstGeom prst="rect">
            <a:avLst/>
          </a:prstGeom>
          <a:solidFill>
            <a:srgbClr val="19376D"/>
          </a:solidFill>
        </p:spPr>
      </p:sp>
      <p:sp>
        <p:nvSpPr>
          <p:cNvPr id="8" name="Text 6"/>
          <p:cNvSpPr/>
          <p:nvPr/>
        </p:nvSpPr>
        <p:spPr>
          <a:xfrm>
            <a:off x="868680" y="1920240"/>
            <a:ext cx="3657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ECDC4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71600" y="1920240"/>
            <a:ext cx="66751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wake predictions against Jensen analytical model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31520" y="2606040"/>
            <a:ext cx="7498080" cy="502920"/>
          </a:xfrm>
          <a:prstGeom prst="rect">
            <a:avLst/>
          </a:prstGeom>
          <a:solidFill>
            <a:srgbClr val="19376D"/>
          </a:solidFill>
        </p:spPr>
      </p:sp>
      <p:sp>
        <p:nvSpPr>
          <p:cNvPr id="11" name="Text 9"/>
          <p:cNvSpPr/>
          <p:nvPr/>
        </p:nvSpPr>
        <p:spPr>
          <a:xfrm>
            <a:off x="868680" y="2606040"/>
            <a:ext cx="3657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ECDC4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71600" y="2606040"/>
            <a:ext cx="66751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 yaw + blade pitch optimization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31520" y="3291840"/>
            <a:ext cx="7498080" cy="502920"/>
          </a:xfrm>
          <a:prstGeom prst="rect">
            <a:avLst/>
          </a:prstGeom>
          <a:solidFill>
            <a:srgbClr val="19376D"/>
          </a:solidFill>
        </p:spPr>
      </p:sp>
      <p:sp>
        <p:nvSpPr>
          <p:cNvPr id="14" name="Text 12"/>
          <p:cNvSpPr/>
          <p:nvPr/>
        </p:nvSpPr>
        <p:spPr>
          <a:xfrm>
            <a:off x="868680" y="3291840"/>
            <a:ext cx="3657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ECDC4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71600" y="3291840"/>
            <a:ext cx="66751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Per-turbine analysis of wake effects (Turbine 6 deficit)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31520" y="3977640"/>
            <a:ext cx="7498080" cy="502920"/>
          </a:xfrm>
          <a:prstGeom prst="rect">
            <a:avLst/>
          </a:prstGeom>
          <a:solidFill>
            <a:srgbClr val="19376D"/>
          </a:solidFill>
        </p:spPr>
      </p:sp>
      <p:sp>
        <p:nvSpPr>
          <p:cNvPr id="17" name="Text 15"/>
          <p:cNvSpPr/>
          <p:nvPr/>
        </p:nvSpPr>
        <p:spPr>
          <a:xfrm>
            <a:off x="868680" y="3977640"/>
            <a:ext cx="3657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ECDC4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71600" y="3977640"/>
            <a:ext cx="66751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final report and journal paper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640" y="4663440"/>
            <a:ext cx="4572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Ibrahim Alghrabi  |  g201724510@kfupm.edu.sa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2488</Words>
  <Application>WPS Presentation</Application>
  <PresentationFormat>On-screen Show (16:9)</PresentationFormat>
  <Paragraphs>175</Paragraphs>
  <Slides>9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8" baseType="lpstr">
      <vt:lpstr>Arial</vt:lpstr>
      <vt:lpstr>SimSun</vt:lpstr>
      <vt:lpstr>Wingdings</vt:lpstr>
      <vt:lpstr>Georgia</vt:lpstr>
      <vt:lpstr>Georgia</vt:lpstr>
      <vt:lpstr>Georgia</vt:lpstr>
      <vt:lpstr>Calibri</vt:lpstr>
      <vt:lpstr>Trebuchet MS</vt:lpstr>
      <vt:lpstr>Calibri</vt:lpstr>
      <vt:lpstr>Calibri</vt:lpstr>
      <vt:lpstr>Consolas</vt:lpstr>
      <vt:lpstr>Consolas</vt:lpstr>
      <vt:lpstr>Consolas</vt:lpstr>
      <vt:lpstr>Microsoft YaHei</vt:lpstr>
      <vt:lpstr>Droid Sans Fallback</vt:lpstr>
      <vt:lpstr>Arial Unicode MS</vt:lpstr>
      <vt:lpstr>Tiresias Infofont</vt:lpstr>
      <vt:lpstr>C059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Progress Report 3 — PINN Training &amp; Yaw Optimization</dc:title>
  <dc:creator>Ibrahim Alghrabi</dc:creator>
  <dc:subject>PptxGenJS Presentation</dc:subject>
  <cp:lastModifiedBy>ibrahim</cp:lastModifiedBy>
  <cp:revision>2</cp:revision>
  <dcterms:created xsi:type="dcterms:W3CDTF">2026-02-24T20:39:21Z</dcterms:created>
  <dcterms:modified xsi:type="dcterms:W3CDTF">2026-02-24T20:39:21Z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/>
  </property>
  <property fmtid="{D5CDD505-2E9C-101B-9397-08002B2CF9AE}" pid="3" name="KSOProductBuildVer">
    <vt:lpwstr>1033-11.1.0.11723</vt:lpwstr>
  </property>
</Properties>
</file>